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898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63948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43337" y="-989670"/>
            <a:ext cx="1080715" cy="2956684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032124" y="-144441"/>
            <a:ext cx="12672714" cy="2435537"/>
          </a:xfrm>
          <a:custGeom>
            <a:avLst/>
            <a:gdLst/>
            <a:ahLst/>
            <a:cxnLst/>
            <a:rect l="l" t="t" r="r" b="b"/>
            <a:pathLst>
              <a:path w="12672714" h="2435537">
                <a:moveTo>
                  <a:pt x="0" y="0"/>
                </a:moveTo>
                <a:lnTo>
                  <a:pt x="12672714" y="0"/>
                </a:lnTo>
                <a:lnTo>
                  <a:pt x="12672714" y="2435537"/>
                </a:lnTo>
                <a:lnTo>
                  <a:pt x="0" y="24355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446930" y="2639449"/>
            <a:ext cx="15394140" cy="279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7000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DEFI REGULATION: GLOBAL RESPONSES COMPARED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11919" y="5308430"/>
            <a:ext cx="10597432" cy="85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United States | European Union (</a:t>
            </a:r>
            <a:r>
              <a:rPr lang="en-US" sz="2499" dirty="0" err="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MiCA</a:t>
            </a:r>
            <a:r>
              <a:rPr lang="en-US" sz="2499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) | India | Singapore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Regulatory Arbitrage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929738" y="7874121"/>
            <a:ext cx="3380844" cy="1044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By Arshad Shaikh</a:t>
            </a:r>
            <a:br>
              <a:rPr lang="en-US" sz="3000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</a:br>
            <a:r>
              <a:rPr lang="en-US" sz="3000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D16ADB / 49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9B4307-3C7B-75F7-B223-1D43EA80D295}"/>
              </a:ext>
            </a:extLst>
          </p:cNvPr>
          <p:cNvSpPr txBox="1"/>
          <p:nvPr/>
        </p:nvSpPr>
        <p:spPr>
          <a:xfrm>
            <a:off x="3621718" y="7682888"/>
            <a:ext cx="12636708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400" dirty="0"/>
              <a:t>Course : DeFi (HBCC801)</a:t>
            </a:r>
          </a:p>
          <a:p>
            <a:r>
              <a:rPr lang="en-IN" sz="3400" dirty="0"/>
              <a:t>Continuous Assessment – 1</a:t>
            </a:r>
            <a:br>
              <a:rPr lang="en-IN" sz="3400" dirty="0"/>
            </a:br>
            <a:r>
              <a:rPr lang="en-IN" sz="3400" dirty="0"/>
              <a:t>Academic Year : 2025 - 26</a:t>
            </a:r>
          </a:p>
        </p:txBody>
      </p:sp>
      <p:pic>
        <p:nvPicPr>
          <p:cNvPr id="1026" name="Picture 2" descr="University of Mumbai - Wikiwand">
            <a:extLst>
              <a:ext uri="{FF2B5EF4-FFF2-40B4-BE49-F238E27FC236}">
                <a16:creationId xmlns:a16="http://schemas.microsoft.com/office/drawing/2014/main" id="{BF795DDD-1B23-9A2C-3CE1-6FD0E5782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98938" y="148548"/>
            <a:ext cx="2010413" cy="2032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0776535" y="3085173"/>
            <a:ext cx="7222353" cy="4850048"/>
          </a:xfrm>
          <a:custGeom>
            <a:avLst/>
            <a:gdLst/>
            <a:ahLst/>
            <a:cxnLst/>
            <a:rect l="l" t="t" r="r" b="b"/>
            <a:pathLst>
              <a:path w="7222353" h="4850048">
                <a:moveTo>
                  <a:pt x="0" y="0"/>
                </a:moveTo>
                <a:lnTo>
                  <a:pt x="7222353" y="0"/>
                </a:lnTo>
                <a:lnTo>
                  <a:pt x="7222353" y="4850047"/>
                </a:lnTo>
                <a:lnTo>
                  <a:pt x="0" y="48500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875411" y="616733"/>
            <a:ext cx="8537178" cy="139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WHAT IS DEFI?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09908" y="3148660"/>
            <a:ext cx="9689515" cy="5717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5932" lvl="1" indent="-392966" algn="just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Decentralized Finance (DeFi) refers to blockchain-based financial systems operating without traditional intermediaries.</a:t>
            </a:r>
          </a:p>
          <a:p>
            <a:pPr algn="just">
              <a:lnSpc>
                <a:spcPts val="5096"/>
              </a:lnSpc>
            </a:pPr>
            <a:endParaRPr lang="en-US" sz="364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785932" lvl="1" indent="-392966" algn="just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Examples: Decentralized exchanges, lending platforms, stablecoins, governance tokens.</a:t>
            </a:r>
          </a:p>
          <a:p>
            <a:pPr algn="just">
              <a:lnSpc>
                <a:spcPts val="5096"/>
              </a:lnSpc>
            </a:pPr>
            <a:endParaRPr lang="en-US" sz="364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1210458" y="3687754"/>
            <a:ext cx="6589199" cy="4863567"/>
          </a:xfrm>
          <a:custGeom>
            <a:avLst/>
            <a:gdLst/>
            <a:ahLst/>
            <a:cxnLst/>
            <a:rect l="l" t="t" r="r" b="b"/>
            <a:pathLst>
              <a:path w="6589199" h="4863567">
                <a:moveTo>
                  <a:pt x="0" y="0"/>
                </a:moveTo>
                <a:lnTo>
                  <a:pt x="6589199" y="0"/>
                </a:lnTo>
                <a:lnTo>
                  <a:pt x="6589199" y="4863567"/>
                </a:lnTo>
                <a:lnTo>
                  <a:pt x="0" y="48635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678" r="-16087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578205" y="239280"/>
            <a:ext cx="13131590" cy="2845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WHY GOVERNMENTS ARE CONCERNED ABOUT DEFI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2124" y="3383529"/>
            <a:ext cx="10069819" cy="538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7275" lvl="1" indent="-473638" algn="l">
              <a:lnSpc>
                <a:spcPts val="6142"/>
              </a:lnSpc>
              <a:buFont typeface="Arial"/>
              <a:buChar char="•"/>
            </a:pPr>
            <a:r>
              <a:rPr lang="en-US" sz="4387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Money laundering and terrorism financing risks</a:t>
            </a:r>
          </a:p>
          <a:p>
            <a:pPr marL="947275" lvl="1" indent="-473638" algn="l">
              <a:lnSpc>
                <a:spcPts val="6142"/>
              </a:lnSpc>
              <a:buFont typeface="Arial"/>
              <a:buChar char="•"/>
            </a:pPr>
            <a:r>
              <a:rPr lang="en-US" sz="4387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Consumer and investor protection</a:t>
            </a:r>
          </a:p>
          <a:p>
            <a:pPr marL="947275" lvl="1" indent="-473638" algn="l">
              <a:lnSpc>
                <a:spcPts val="6142"/>
              </a:lnSpc>
              <a:buFont typeface="Arial"/>
              <a:buChar char="•"/>
            </a:pPr>
            <a:r>
              <a:rPr lang="en-US" sz="4387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Financial stability concerns</a:t>
            </a:r>
          </a:p>
          <a:p>
            <a:pPr marL="947275" lvl="1" indent="-473638" algn="l">
              <a:lnSpc>
                <a:spcPts val="6142"/>
              </a:lnSpc>
              <a:buFont typeface="Arial"/>
              <a:buChar char="•"/>
            </a:pPr>
            <a:r>
              <a:rPr lang="en-US" sz="4387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Tax evasion and regulatory gaps</a:t>
            </a:r>
          </a:p>
          <a:p>
            <a:pPr marL="947275" lvl="1" indent="-473638" algn="l">
              <a:lnSpc>
                <a:spcPts val="6142"/>
              </a:lnSpc>
              <a:buFont typeface="Arial"/>
              <a:buChar char="•"/>
            </a:pPr>
            <a:r>
              <a:rPr lang="en-US" sz="4387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Lack of identifiable legal entity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1"/>
          <p:cNvGrpSpPr/>
          <p:nvPr/>
        </p:nvGrpSpPr>
        <p:grpSpPr>
          <a:xfrm>
            <a:off x="16718943" y="-1134332"/>
            <a:ext cx="1080977" cy="3101688"/>
            <a:chOff x="0" y="-38100"/>
            <a:chExt cx="284700" cy="816900"/>
          </a:xfrm>
        </p:grpSpPr>
        <p:sp>
          <p:nvSpPr>
            <p:cNvPr id="22" name="Google Shape;22;p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1"/>
            <p:cNvSpPr txBox="1"/>
            <p:nvPr/>
          </p:nvSpPr>
          <p:spPr>
            <a:xfrm>
              <a:off x="0" y="-38100"/>
              <a:ext cx="2847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" name="Google Shape;24;p1"/>
          <p:cNvGrpSpPr/>
          <p:nvPr/>
        </p:nvGrpSpPr>
        <p:grpSpPr>
          <a:xfrm>
            <a:off x="-529352" y="9659181"/>
            <a:ext cx="19347104" cy="967070"/>
            <a:chOff x="0" y="-38100"/>
            <a:chExt cx="5095500" cy="254700"/>
          </a:xfrm>
        </p:grpSpPr>
        <p:sp>
          <p:nvSpPr>
            <p:cNvPr id="25" name="Google Shape;25;p1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 extrusionOk="0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 cmpd="sng">
              <a:solidFill>
                <a:srgbClr val="49484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1"/>
            <p:cNvSpPr txBox="1"/>
            <p:nvPr/>
          </p:nvSpPr>
          <p:spPr>
            <a:xfrm>
              <a:off x="0" y="-38100"/>
              <a:ext cx="50955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" name="Google Shape;27;p1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 extrusionOk="0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8" name="Google Shape;28;p1"/>
          <p:cNvGrpSpPr/>
          <p:nvPr/>
        </p:nvGrpSpPr>
        <p:grpSpPr>
          <a:xfrm>
            <a:off x="488343" y="-1134332"/>
            <a:ext cx="1080977" cy="3101688"/>
            <a:chOff x="0" y="-38100"/>
            <a:chExt cx="284700" cy="816900"/>
          </a:xfrm>
        </p:grpSpPr>
        <p:sp>
          <p:nvSpPr>
            <p:cNvPr id="29" name="Google Shape;29;p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1"/>
            <p:cNvSpPr txBox="1"/>
            <p:nvPr/>
          </p:nvSpPr>
          <p:spPr>
            <a:xfrm>
              <a:off x="0" y="-38100"/>
              <a:ext cx="2847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" name="Google Shape;31;p1"/>
          <p:cNvSpPr/>
          <p:nvPr/>
        </p:nvSpPr>
        <p:spPr>
          <a:xfrm>
            <a:off x="313765" y="3257958"/>
            <a:ext cx="7027718" cy="4662050"/>
          </a:xfrm>
          <a:custGeom>
            <a:avLst/>
            <a:gdLst/>
            <a:ahLst/>
            <a:cxnLst/>
            <a:rect l="l" t="t" r="r" b="b"/>
            <a:pathLst>
              <a:path w="7027718" h="4662050" extrusionOk="0">
                <a:moveTo>
                  <a:pt x="0" y="0"/>
                </a:moveTo>
                <a:lnTo>
                  <a:pt x="7027718" y="0"/>
                </a:lnTo>
                <a:lnTo>
                  <a:pt x="7027718" y="4662050"/>
                </a:lnTo>
                <a:lnTo>
                  <a:pt x="0" y="4662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2" name="Google Shape;32;p1"/>
          <p:cNvSpPr/>
          <p:nvPr/>
        </p:nvSpPr>
        <p:spPr>
          <a:xfrm>
            <a:off x="488343" y="351686"/>
            <a:ext cx="2321831" cy="2321831"/>
          </a:xfrm>
          <a:custGeom>
            <a:avLst/>
            <a:gdLst/>
            <a:ahLst/>
            <a:cxnLst/>
            <a:rect l="l" t="t" r="r" b="b"/>
            <a:pathLst>
              <a:path w="2321831" h="2321831" extrusionOk="0">
                <a:moveTo>
                  <a:pt x="0" y="0"/>
                </a:moveTo>
                <a:lnTo>
                  <a:pt x="2321830" y="0"/>
                </a:lnTo>
                <a:lnTo>
                  <a:pt x="2321830" y="2321831"/>
                </a:lnTo>
                <a:lnTo>
                  <a:pt x="0" y="23218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3" name="Google Shape;33;p1"/>
          <p:cNvSpPr txBox="1"/>
          <p:nvPr/>
        </p:nvSpPr>
        <p:spPr>
          <a:xfrm>
            <a:off x="2459156" y="700950"/>
            <a:ext cx="14720700" cy="17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2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UNITED STATES APPROACH</a:t>
            </a:r>
            <a:endParaRPr/>
          </a:p>
        </p:txBody>
      </p:sp>
      <p:sp>
        <p:nvSpPr>
          <p:cNvPr id="34" name="Google Shape;34;p1"/>
          <p:cNvSpPr txBox="1"/>
          <p:nvPr/>
        </p:nvSpPr>
        <p:spPr>
          <a:xfrm>
            <a:off x="7776170" y="3181758"/>
            <a:ext cx="10023600" cy="4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63598" marR="0" lvl="1" indent="-431800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Char char="•"/>
            </a:pPr>
            <a:r>
              <a:rPr lang="en-US" sz="3999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Enforcement-led regulation through SEC, CFTC, FinCEN</a:t>
            </a:r>
            <a:endParaRPr/>
          </a:p>
          <a:p>
            <a:pPr marL="863598" marR="0" lvl="1" indent="-431800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Char char="•"/>
            </a:pPr>
            <a:r>
              <a:rPr lang="en-US" sz="3999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Focus on securities law and AML</a:t>
            </a:r>
            <a:endParaRPr/>
          </a:p>
          <a:p>
            <a:pPr marL="863598" marR="0" lvl="1" indent="-431800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Char char="•"/>
            </a:pPr>
            <a:r>
              <a:rPr lang="en-US" sz="3999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Targeting centralized actors interacting with DeFi</a:t>
            </a:r>
            <a:endParaRPr/>
          </a:p>
          <a:p>
            <a:pPr marL="863598" marR="0" lvl="1" indent="-431800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Char char="•"/>
            </a:pPr>
            <a:r>
              <a:rPr lang="en-US" sz="3999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Legal focus on 'control' and 'administration' of protocols</a:t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10744200" y="8801100"/>
            <a:ext cx="4267200" cy="7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 txBox="1"/>
          <p:nvPr/>
        </p:nvSpPr>
        <p:spPr>
          <a:xfrm>
            <a:off x="6400800" y="9323479"/>
            <a:ext cx="122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U.S. Securities and Exchange Commission, Commodity Futures Trading Commission, Financial Crimes Enforcement Network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396235" y="44085"/>
            <a:ext cx="11495531" cy="2845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EUROPEAN UNION – MICA FRAMEWORK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12136" y="3360075"/>
            <a:ext cx="12663729" cy="561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First comprehensive crypto regulation (Markets in Crypto-Assets Regulation(</a:t>
            </a:r>
            <a:r>
              <a:rPr lang="en-US" sz="3999" dirty="0" err="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MiCA</a:t>
            </a:r>
            <a:r>
              <a:rPr lang="en-US" sz="3999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))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Covers Crypto Asset Service Providers (CASPs) and stablecoins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DeFi not fully covered yet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EU Commission mandated to study DeFi and NFTs for future regulation</a:t>
            </a:r>
          </a:p>
          <a:p>
            <a:pPr algn="l">
              <a:lnSpc>
                <a:spcPts val="5599"/>
              </a:lnSpc>
            </a:pPr>
            <a:endParaRPr lang="en-US" sz="3999" dirty="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360981" y="2534191"/>
            <a:ext cx="15566037" cy="7317278"/>
          </a:xfrm>
          <a:custGeom>
            <a:avLst/>
            <a:gdLst/>
            <a:ahLst/>
            <a:cxnLst/>
            <a:rect l="l" t="t" r="r" b="b"/>
            <a:pathLst>
              <a:path w="15566037" h="7317278">
                <a:moveTo>
                  <a:pt x="0" y="0"/>
                </a:moveTo>
                <a:lnTo>
                  <a:pt x="15566038" y="0"/>
                </a:lnTo>
                <a:lnTo>
                  <a:pt x="15566038" y="7317277"/>
                </a:lnTo>
                <a:lnTo>
                  <a:pt x="0" y="73172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2560" b="-10396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396235" y="-117840"/>
            <a:ext cx="11495531" cy="2845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EUROPEAN UNION – MICA FRAMEWORK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0511712" y="3360625"/>
            <a:ext cx="7507347" cy="4954849"/>
          </a:xfrm>
          <a:custGeom>
            <a:avLst/>
            <a:gdLst/>
            <a:ahLst/>
            <a:cxnLst/>
            <a:rect l="l" t="t" r="r" b="b"/>
            <a:pathLst>
              <a:path w="7507347" h="4954849">
                <a:moveTo>
                  <a:pt x="0" y="0"/>
                </a:moveTo>
                <a:lnTo>
                  <a:pt x="7507347" y="0"/>
                </a:lnTo>
                <a:lnTo>
                  <a:pt x="7507347" y="4954849"/>
                </a:lnTo>
                <a:lnTo>
                  <a:pt x="0" y="49548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396235" y="44085"/>
            <a:ext cx="11495531" cy="2845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INDIA’S REGULATORY POSITION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88343" y="3284425"/>
            <a:ext cx="9727788" cy="546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2010" lvl="1" indent="-421005" algn="l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High taxation on crypto transactions</a:t>
            </a:r>
          </a:p>
          <a:p>
            <a:pPr marL="842010" lvl="1" indent="-421005" algn="l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Strong AML and KYC focus</a:t>
            </a:r>
          </a:p>
          <a:p>
            <a:pPr marL="842010" lvl="1" indent="-421005" algn="l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RBI skeptical of private cryptocurrencies</a:t>
            </a:r>
          </a:p>
          <a:p>
            <a:pPr marL="842010" lvl="1" indent="-421005" algn="l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Preference for Central Bank Digital Currency (CBDC)</a:t>
            </a:r>
          </a:p>
          <a:p>
            <a:pPr marL="842010" lvl="1" indent="-421005" algn="l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DeFi remains in legal grey area</a:t>
            </a:r>
          </a:p>
          <a:p>
            <a:pPr algn="l">
              <a:lnSpc>
                <a:spcPts val="5459"/>
              </a:lnSpc>
            </a:pPr>
            <a:endParaRPr lang="en-US" sz="390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96235" y="225060"/>
            <a:ext cx="11838106" cy="1395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SINGAPORE’S STRATEGY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226753" y="3360075"/>
            <a:ext cx="11834493" cy="490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Risk-based and innovation-friendly approach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Licensing for Virtual Asset Service Providers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Strict AML/CFT compliance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Focus on fiat on/off ramps and custodial services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9736746" y="2247900"/>
            <a:ext cx="8146162" cy="7072919"/>
          </a:xfrm>
          <a:custGeom>
            <a:avLst/>
            <a:gdLst/>
            <a:ahLst/>
            <a:cxnLst/>
            <a:rect l="l" t="t" r="r" b="b"/>
            <a:pathLst>
              <a:path w="8146162" h="7072919">
                <a:moveTo>
                  <a:pt x="0" y="0"/>
                </a:moveTo>
                <a:lnTo>
                  <a:pt x="8146161" y="0"/>
                </a:lnTo>
                <a:lnTo>
                  <a:pt x="8146161" y="7072919"/>
                </a:lnTo>
                <a:lnTo>
                  <a:pt x="0" y="7072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825" b="-10348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802322" y="571911"/>
            <a:ext cx="12971077" cy="1376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COMPARATIVE SNAPSHOT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8788" y="3315726"/>
            <a:ext cx="8885598" cy="5709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0760" lvl="1" indent="-390380" algn="l">
              <a:lnSpc>
                <a:spcPts val="5062"/>
              </a:lnSpc>
              <a:buFont typeface="Arial"/>
              <a:buChar char="•"/>
            </a:pPr>
            <a:r>
              <a:rPr lang="en-US" sz="361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US: Enforcement and securities focus</a:t>
            </a:r>
          </a:p>
          <a:p>
            <a:pPr marL="780760" lvl="1" indent="-390380" algn="l">
              <a:lnSpc>
                <a:spcPts val="5062"/>
              </a:lnSpc>
              <a:buFont typeface="Arial"/>
              <a:buChar char="•"/>
            </a:pPr>
            <a:r>
              <a:rPr lang="en-US" sz="361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EU: Structured regulation (MiCA) with future DeFi review</a:t>
            </a:r>
          </a:p>
          <a:p>
            <a:pPr marL="780760" lvl="1" indent="-390380" algn="l">
              <a:lnSpc>
                <a:spcPts val="5062"/>
              </a:lnSpc>
              <a:buFont typeface="Arial"/>
              <a:buChar char="•"/>
            </a:pPr>
            <a:r>
              <a:rPr lang="en-US" sz="361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India: Restrictive, tax-heavy, AML focused</a:t>
            </a:r>
          </a:p>
          <a:p>
            <a:pPr marL="780760" lvl="1" indent="-390380" algn="l">
              <a:lnSpc>
                <a:spcPts val="5062"/>
              </a:lnSpc>
              <a:buFont typeface="Arial"/>
              <a:buChar char="•"/>
            </a:pPr>
            <a:r>
              <a:rPr lang="en-US" sz="361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Singapore: Balanced, risk-based supervision</a:t>
            </a:r>
          </a:p>
          <a:p>
            <a:pPr algn="l">
              <a:lnSpc>
                <a:spcPts val="5062"/>
              </a:lnSpc>
            </a:pPr>
            <a:endParaRPr lang="en-US" sz="3616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8922085" y="2602006"/>
            <a:ext cx="8767195" cy="5434212"/>
          </a:xfrm>
          <a:custGeom>
            <a:avLst/>
            <a:gdLst/>
            <a:ahLst/>
            <a:cxnLst/>
            <a:rect l="l" t="t" r="r" b="b"/>
            <a:pathLst>
              <a:path w="8767195" h="5434212">
                <a:moveTo>
                  <a:pt x="0" y="0"/>
                </a:moveTo>
                <a:lnTo>
                  <a:pt x="8767194" y="0"/>
                </a:lnTo>
                <a:lnTo>
                  <a:pt x="8767194" y="5434211"/>
                </a:lnTo>
                <a:lnTo>
                  <a:pt x="0" y="5434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551" t="-7703" r="-2922" b="-7819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737764" y="336272"/>
            <a:ext cx="14812472" cy="1395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REGULATORY ARBITRAGE?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0" y="3341603"/>
            <a:ext cx="8922085" cy="490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Practice of exploiting differences in national regulations to avoid strict compliance.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Common in DeFi due to borderless nature of blockchain.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488343" y="4114822"/>
            <a:ext cx="6006298" cy="3541213"/>
          </a:xfrm>
          <a:custGeom>
            <a:avLst/>
            <a:gdLst/>
            <a:ahLst/>
            <a:cxnLst/>
            <a:rect l="l" t="t" r="r" b="b"/>
            <a:pathLst>
              <a:path w="6006298" h="3541213">
                <a:moveTo>
                  <a:pt x="0" y="0"/>
                </a:moveTo>
                <a:lnTo>
                  <a:pt x="6006298" y="0"/>
                </a:lnTo>
                <a:lnTo>
                  <a:pt x="6006298" y="3541214"/>
                </a:lnTo>
                <a:lnTo>
                  <a:pt x="0" y="35412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685791" y="239280"/>
            <a:ext cx="14916418" cy="2845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HOW REGULATORY ARBITRAGE HAPPENS IN DEFI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94641" y="3482038"/>
            <a:ext cx="11612875" cy="561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Setting up entities in permissive jurisdictions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Using offshore exchanges and wallets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Claiming full decentralization to avoid liability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Routing users through different platforms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Use of privacy tools and cross-chain bridges</a:t>
            </a:r>
          </a:p>
          <a:p>
            <a:pPr algn="just">
              <a:lnSpc>
                <a:spcPts val="5599"/>
              </a:lnSpc>
            </a:pPr>
            <a:endParaRPr lang="en-US" sz="3999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3267040" y="3511179"/>
            <a:ext cx="5020960" cy="5020960"/>
          </a:xfrm>
          <a:custGeom>
            <a:avLst/>
            <a:gdLst/>
            <a:ahLst/>
            <a:cxnLst/>
            <a:rect l="l" t="t" r="r" b="b"/>
            <a:pathLst>
              <a:path w="5020960" h="5020960">
                <a:moveTo>
                  <a:pt x="0" y="0"/>
                </a:moveTo>
                <a:lnTo>
                  <a:pt x="5020960" y="0"/>
                </a:lnTo>
                <a:lnTo>
                  <a:pt x="5020960" y="5020960"/>
                </a:lnTo>
                <a:lnTo>
                  <a:pt x="0" y="50209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569057" y="190146"/>
            <a:ext cx="15149885" cy="2845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IMPLICATIONS FOR DEFI PROJECTS AND INVESTORS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82709" y="4234134"/>
            <a:ext cx="12191758" cy="349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Need for compliance at on/off ramps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Transparency in governance and treasury control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Legal risks based on jurisdiction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Importance of decentralization roadmap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32329" y="541175"/>
            <a:ext cx="13823343" cy="28516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FUTURE OF DEFI REGULATION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048121" y="4077252"/>
            <a:ext cx="12191758" cy="279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EU likely to expand MiCA to DeFi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US moving towards clearer rulemaking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India may tighten AML and taxation rules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Singapore to refine supervisory expectations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75411" y="1690069"/>
            <a:ext cx="8537178" cy="1395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818054" y="4077252"/>
            <a:ext cx="12651892" cy="4259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2290" lvl="1" indent="-436145" algn="l">
              <a:lnSpc>
                <a:spcPts val="5656"/>
              </a:lnSpc>
              <a:buFont typeface="Arial"/>
              <a:buChar char="•"/>
            </a:pPr>
            <a:r>
              <a:rPr lang="en-US" sz="40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DeFi challenges traditional regulation due to decentralization.</a:t>
            </a:r>
          </a:p>
          <a:p>
            <a:pPr marL="872290" lvl="1" indent="-436145" algn="l">
              <a:lnSpc>
                <a:spcPts val="5656"/>
              </a:lnSpc>
              <a:buFont typeface="Arial"/>
              <a:buChar char="•"/>
            </a:pPr>
            <a:r>
              <a:rPr lang="en-US" sz="40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Jurisdictions are focusing on gatekeepers and legal control points.</a:t>
            </a:r>
          </a:p>
          <a:p>
            <a:pPr marL="872290" lvl="1" indent="-436145" algn="l">
              <a:lnSpc>
                <a:spcPts val="5656"/>
              </a:lnSpc>
              <a:buFont typeface="Arial"/>
              <a:buChar char="•"/>
            </a:pPr>
            <a:r>
              <a:rPr lang="en-US" sz="40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Reducing regulatory arbitrage requires global cooperation.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50481" y="4013348"/>
            <a:ext cx="12387037" cy="2031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41"/>
              </a:lnSpc>
            </a:pPr>
            <a:r>
              <a:rPr lang="en-US" sz="11886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442</Words>
  <Application>Microsoft Office PowerPoint</Application>
  <PresentationFormat>Custom</PresentationFormat>
  <Paragraphs>68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Century Gothic</vt:lpstr>
      <vt:lpstr>Century Gothic Paneuropean</vt:lpstr>
      <vt:lpstr>Century Gothic Paneuropean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Vivek</dc:creator>
  <cp:lastModifiedBy>Vivek Sawant</cp:lastModifiedBy>
  <cp:revision>4</cp:revision>
  <dcterms:modified xsi:type="dcterms:W3CDTF">2026-02-18T06:52:46Z</dcterms:modified>
</cp:coreProperties>
</file>